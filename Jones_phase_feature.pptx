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Computing the Jones polynomial at low color (J2, or J2+J3) is cheap, but the volume conjecture's actual claim only holds in the limit of infinitely high color — a regime that's computationally intractable to reach directly. Rather than chasing that limit, this approach trains a network on cheap, low-color data paired with independently computed ground-truth volumes. The network learns, empirically, whatever complex relationship links these low-level polynomial coefficients to the high-level geometric quantity of volume. In effect, it substitutes learned pattern-recognition for the intractable exact computation, extracting at inference time in a single forward pass what would otherwise require an infeasible high-color limit. The result is a model that operates cheaply at the low level but effectively captures and exploits structure that only becomes meaningful at the higher level. A further extension would push this idea one level higher — training a network to predict the volume-correlated behavior of higher-color polynomials (J4, J5, …) directly from cheap low-color data, avoiding their direct computation entirely rather than merely avoiding the infinite-N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phase-evaluation feature for predicting hyperbolic volume from the Jones polynomial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E8843C"/>
                </a:solidFill>
                <a:latin typeface="Calibri"/>
              </a:rPr>
              <a:t>Theory-guided feature engineering in an NSGA-II architecture search — and breaking the J₂ ceiling with the adjoint J₃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7D4E0"/>
                </a:solidFill>
                <a:latin typeface="Calibri"/>
              </a:rPr>
              <a:t>CatalinMoldova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idea: let theory pick the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2000">
                <a:solidFill>
                  <a:srgbClr val="1A1A1A"/>
                </a:solidFill>
                <a:latin typeface="Calibri"/>
              </a:rPr>
              <a:t>Task.  </a:t>
            </a:r>
            <a:r>
              <a:rPr sz="2000">
                <a:solidFill>
                  <a:srgbClr val="1A1A1A"/>
                </a:solidFill>
                <a:latin typeface="Calibri"/>
              </a:rPr>
              <a:t>Predict a knot's hyperbolic volume from its fundamental Jones polynomial J₂ (34 integer coefficients). 12,955 hyperbolic knots, ≤13 crossings.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1A1A1A"/>
                </a:solidFill>
                <a:latin typeface="Calibri"/>
              </a:rPr>
              <a:t>Volume conjecture.  </a:t>
            </a:r>
            <a:r>
              <a:rPr sz="2000">
                <a:solidFill>
                  <a:srgbClr val="1A1A1A"/>
                </a:solidFill>
                <a:latin typeface="Calibri"/>
              </a:rPr>
              <a:t>A specific evaluation of the colored Jones polynomial governs the volume. Jejjala et al. found |V(e^(3πi/4))| alone tracks the volume almost as well as a full network.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D55E00"/>
                </a:solidFill>
                <a:latin typeface="Calibri"/>
              </a:rPr>
              <a:t>The change.  </a:t>
            </a:r>
            <a:r>
              <a:rPr sz="2000">
                <a:solidFill>
                  <a:srgbClr val="1A1A1A"/>
                </a:solidFill>
                <a:latin typeface="Calibri"/>
              </a:rPr>
              <a:t>Add one evaluation — V(q₀) at q₀ = e^(3πi/4) — as three features [Re, Im, |·|]. Feature vector 42 → 45. Nothing else changes: same search space, splits, and budget.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1A1A1A"/>
                </a:solidFill>
                <a:latin typeface="Calibri"/>
              </a:rPr>
              <a:t>Test.  </a:t>
            </a:r>
            <a:r>
              <a:rPr sz="2000">
                <a:solidFill>
                  <a:srgbClr val="1A1A1A"/>
                </a:solidFill>
                <a:latin typeface="Calibri"/>
              </a:rPr>
              <a:t>Re-run the identical NSGA-II architecture search with vs. without the feature. A clean A/B.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Why learn it: a cheap stand-in for an intractable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The catch.  </a:t>
            </a:r>
            <a:r>
              <a:rPr sz="1900">
                <a:solidFill>
                  <a:srgbClr val="1A1A1A"/>
                </a:solidFill>
                <a:latin typeface="Calibri"/>
              </a:rPr>
              <a:t>The volume conjecture's actual claim only holds in the limit of infinitely high color N → ∞. Low color (J₂, J₂+J₃) is cheap to compute; that limit is computationally intractable to reach directly.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D55E00"/>
                </a:solidFill>
                <a:latin typeface="Calibri"/>
              </a:rPr>
              <a:t>The substitution.  </a:t>
            </a:r>
            <a:r>
              <a:rPr sz="1900">
                <a:solidFill>
                  <a:srgbClr val="1A1A1A"/>
                </a:solidFill>
                <a:latin typeface="Calibri"/>
              </a:rPr>
              <a:t>Instead of chasing the limit, train on cheap low-color data paired with independently computed ground-truth volumes (SnapPy). The network learns, empirically, whatever relationship links the low-level polynomial coefficients to the high-level geometry.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What you get.  </a:t>
            </a:r>
            <a:r>
              <a:rPr sz="1900">
                <a:solidFill>
                  <a:srgbClr val="1A1A1A"/>
                </a:solidFill>
                <a:latin typeface="Calibri"/>
              </a:rPr>
              <a:t>Learned pattern-recognition replaces the intractable exact computation: a single forward pass at inference extracts what would otherwise require an infeasible high-color limit — cheap at the low level, exploiting structure that only becomes meaningful at the higher level.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0072B2"/>
                </a:solidFill>
                <a:latin typeface="Calibri"/>
              </a:rPr>
              <a:t>One level higher.  </a:t>
            </a:r>
            <a:r>
              <a:rPr sz="1900">
                <a:solidFill>
                  <a:srgbClr val="1A1A1A"/>
                </a:solidFill>
                <a:latin typeface="Calibri"/>
              </a:rPr>
              <a:t>Extension: predict the volume-correlated behavior of higher-color polynomials (J₄, J₅, …) directly from low-color data — avoiding their computation entirely, not merely the infinite-N limit.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A single phase evaluation nearly tracks the volume</a:t>
            </a:r>
          </a:p>
        </p:txBody>
      </p:sp>
      <p:pic>
        <p:nvPicPr>
          <p:cNvPr id="4" name="Picture 3" descr="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143000"/>
            <a:ext cx="10607040" cy="4499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|V(e^(3πi/4))| is the strongest single predictor in the set (r = 0.93 vs 0.80 for the previous best) — before any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Theory put the feature exactly where the signal peaks</a:t>
            </a:r>
          </a:p>
        </p:txBody>
      </p:sp>
      <p:pic>
        <p:nvPicPr>
          <p:cNvPr id="4" name="Picture 3" descr="phas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01" y="1143000"/>
            <a:ext cx="743229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Single-scalar correlation with volume is ≈ 0 at most evaluation angles and peaks right at q₀ = e^(3πi/4) (empirical max at 0.78π). The phase isn't tuned — the volume conjecture pointed to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Result: same search budget, one added feature</a:t>
            </a:r>
          </a:p>
        </p:txBody>
      </p:sp>
      <p:pic>
        <p:nvPicPr>
          <p:cNvPr id="4" name="Picture 3" descr="ab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440" y="1143000"/>
            <a:ext cx="556681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Ensemble test accuracy 97.14% → 97.31%; mean 96.93% → 97.11% (≈ 6% relative error reduction, ~3σ).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Control (measured): the gain is the phase, not just 3 more inputs</a:t>
            </a:r>
          </a:p>
        </p:txBody>
      </p:sp>
      <p:pic>
        <p:nvPicPr>
          <p:cNvPr id="4" name="Picture 3" descr="ab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965" y="1143000"/>
            <a:ext cx="627976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Same knee net [32,18,54,18], only the 3 extra columns vary: phase 97.31% &gt; zeroed (J₂-only) 97.22% &gt; Gaussian noise 97.11% ensemble. The improvement is the volume signal — noise columns even hurt slightly.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 whole Pareto front shifts down — but stays flat</a:t>
            </a:r>
          </a:p>
        </p:txBody>
      </p:sp>
      <p:pic>
        <p:nvPicPr>
          <p:cNvPr id="4" name="Picture 3" descr="pareto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537" y="1143000"/>
            <a:ext cx="71526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Lower error everywhere; ~180× more parameters barely helps. The bottleneck is the J₂ signal, not the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 best model: the phase-run's Pareto-knee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143000"/>
            <a:ext cx="10607040" cy="4209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Found by the 45-feature (phase) search: 45→32→18→54→18→1 GELU MLP, 4,101 params (lr 6.4e-3, dropout 0.006, L2 1e-6, batch 256) — test MRE 0.0289 ± 0.0004, ensemble 0.0269 (97.31%). Tiny, because the phase feature hands even a small net a near-direct line to the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An information ceiling — and how to break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716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108960"/>
              </a:tblGrid>
              <a:tr h="53035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Accuracy (1 − MRE)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J₂ (this work, 42 feat)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≤13 cr., 12,955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</a:rPr>
                        <a:t>96.9%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55E00"/>
                          </a:solidFill>
                        </a:rPr>
                        <a:t>J₂ + phase (this work)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55E00"/>
                          </a:solidFill>
                        </a:rPr>
                        <a:t>≤13 cr., 12,955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55E00"/>
                          </a:solidFill>
                        </a:rPr>
                        <a:t>97.3%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J₂ (Hughes et al.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≤16 cr., 1.7M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</a:rPr>
                        <a:t>98.5% — best J₂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J₃ adjoint (Hughes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≤15 cr., 177k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</a:rPr>
                        <a:t>99.3% — 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900">
                <a:solidFill>
                  <a:srgbClr val="D55E00"/>
                </a:solidFill>
                <a:latin typeface="Calibri"/>
              </a:rPr>
              <a:t>Takeaway.  </a:t>
            </a:r>
            <a:r>
              <a:rPr sz="1900">
                <a:solidFill>
                  <a:srgbClr val="1A1A1A"/>
                </a:solidFill>
                <a:latin typeface="Calibri"/>
              </a:rPr>
              <a:t>A theory-motivated feature bought a real, budget-matched gain — for free, at every model size.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Ceiling.  </a:t>
            </a:r>
            <a:r>
              <a:rPr sz="1900">
                <a:solidFill>
                  <a:srgbClr val="1A1A1A"/>
                </a:solidFill>
                <a:latin typeface="Calibri"/>
              </a:rPr>
              <a:t>But ~98.5% is set by the data: distinct knots share a J₂ yet differ ~3% in volume. No architecture resolves them.</a:t>
            </a: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Next.  </a:t>
            </a:r>
            <a:r>
              <a:rPr sz="1900">
                <a:solidFill>
                  <a:srgbClr val="1A1A1A"/>
                </a:solidFill>
                <a:latin typeface="Calibri"/>
              </a:rPr>
              <a:t>Measured in Part II: on a matched 1,419-knot set, the adjoint J₃ more than halves the error of J₂ — the ceiling is real and J₃ breaks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Part II (measured): the adjoint J₃ on a colored-Jones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Data.  </a:t>
            </a:r>
            <a:r>
              <a:rPr sz="1900">
                <a:solidFill>
                  <a:srgbClr val="1A1A1A"/>
                </a:solidFill>
                <a:latin typeface="Calibri"/>
              </a:rPr>
              <a:t>New colored-Jones table: 1,426 knots ≤12 crossings with J₂ (fundamental) and J₃ (adjoint). Ground-truth volumes computed with SnapPy (ideal triangulation of the knot complement; exact by Mostow rigidity); 7 non-hyperbolic torus knots dropped → 1,419 knots.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1A1A1A"/>
                </a:solidFill>
                <a:latin typeface="Calibri"/>
              </a:rPr>
              <a:t>Cleaning.  </a:t>
            </a:r>
            <a:r>
              <a:rPr sz="1900">
                <a:solidFill>
                  <a:srgbClr val="1A1A1A"/>
                </a:solidFill>
                <a:latin typeface="Calibri"/>
              </a:rPr>
              <a:t>Mixed q/t variable conventions and framing-polluted exponent shifts → all features built on a shift-invariant canonical form. Validated: all 1,419 J₂ polynomials and volumes match the Part-I dataset.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0072B2"/>
                </a:solidFill>
                <a:latin typeface="Calibri"/>
              </a:rPr>
              <a:t>Phases re-derived.  </a:t>
            </a:r>
            <a:r>
              <a:rPr sz="1900">
                <a:solidFill>
                  <a:srgbClr val="1A1A1A"/>
                </a:solidFill>
                <a:latin typeface="Calibri"/>
              </a:rPr>
              <a:t>The volume-correlated evaluation phase is swept per polynomial instead of assuming 3π/4 transfers: peaks at 13π/16 for J₂ (corr 0.943) and 5π/9 for J₃ (corr 0.959).</a:t>
            </a:r>
          </a:p>
          <a:p>
            <a:pPr>
              <a:spcAft>
                <a:spcPts val="1400"/>
              </a:spcAft>
            </a:pPr>
            <a:r>
              <a:rPr b="1" sz="1900">
                <a:solidFill>
                  <a:srgbClr val="D55E00"/>
                </a:solidFill>
                <a:latin typeface="Calibri"/>
              </a:rPr>
              <a:t>Design.  </a:t>
            </a:r>
            <a:r>
              <a:rPr sz="1900">
                <a:solidFill>
                  <a:srgbClr val="1A1A1A"/>
                </a:solidFill>
                <a:latin typeface="Calibri"/>
              </a:rPr>
              <a:t>Three NSGA-II searches at the identical budget (pop 40 / gens 40 / 4+7 seeds / 500 epochs) on the same knots and split — J₂-only vs J₃-only vs J₂+J₃. Only the input polynomial differs.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 volume-tracking phase moves with the color</a:t>
            </a:r>
          </a:p>
        </p:txBody>
      </p:sp>
      <p:pic>
        <p:nvPicPr>
          <p:cNvPr id="4" name="Picture 3" descr="phase_sweep_j2j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01" y="1143000"/>
            <a:ext cx="743229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corr(log|V(e^(iθ))|, log vol) peaks at θ = 13π/16 for J₂ (0.943) and 5π/9 for J₃ (0.959) — the literature's 3π/4 is not the peak here. J₃'s single scalar is the strongest signal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J₃ breaks the J₂ ceiling — measured, matched budget</a:t>
            </a:r>
          </a:p>
        </p:txBody>
      </p:sp>
      <p:pic>
        <p:nvPicPr>
          <p:cNvPr id="4" name="Picture 3" descr="j2j3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36" y="1143000"/>
            <a:ext cx="623002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Identical knots, split, and search budget: J₂ 94.84% → J₃ 97.67% → J₂+J₃ 97.92% ensemble accuracy. J₃ alone cuts the error of J₂ by 2.2×; every knee stays under 2.7k params.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The best J₂+J₃ model: the Pareto-knee architecture</a:t>
            </a:r>
          </a:p>
        </p:txBody>
      </p:sp>
      <p:pic>
        <p:nvPicPr>
          <p:cNvPr id="4" name="Picture 3" descr="architecture_j2j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143000"/>
            <a:ext cx="10607040" cy="4209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Found by the joined search: 68→27→27→1 GELU MLP, 2,647 params (lr 5.5e-3, dropout 0.007, L2 2.0e-6, batch 128) — test MRE 0.0246 ± 0.0013, ensemble 0.0208 (97.92%). Weights: results_j2j3_j2j3/knee_model.pt.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A1A1A"/>
                </a:solidFill>
                <a:latin typeface="Calibri"/>
              </a:rPr>
              <a:t>Control (measured): the J₂+J₃ gain rides on the phase columns</a:t>
            </a:r>
          </a:p>
        </p:txBody>
      </p:sp>
      <p:pic>
        <p:nvPicPr>
          <p:cNvPr id="4" name="Picture 3" descr="ab_ablation_j2j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85" y="1143000"/>
            <a:ext cx="631292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D55E00"/>
                </a:solidFill>
                <a:latin typeface="Calibri"/>
              </a:rPr>
              <a:t>Same [27, 27] GELU knee, only the 6 phase-evaluation columns vary: phase 97.92% &gt; zeroed 97.56% &gt; Gaussian noise 96.46% ensemble. The signal is real; noise columns actively hurt.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Context: accuracy per parameter against the literature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6070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371600"/>
                <a:gridCol w="2011680"/>
                <a:gridCol w="1645920"/>
                <a:gridCol w="1645920"/>
              </a:tblGrid>
              <a:tr h="374903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Knots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Test MRE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Jejjala–Kar–Parrikar '19 — 2×100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313k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2.45%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Craven–Jejjala–Kar '21 — distilled 2×5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|J₂(q₀)|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313k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~10²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Craven et al. '22 — 3×100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313k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~22,000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Hughes et al. '25 — 5-layer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177k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Hughes et al. '25 — 5-layer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177k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~182,000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Hughes et al. '25 — 5-layer MLP  (SOTA)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J₂+J₃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177k ≤15 cr.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~187,000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This work — NAS knee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1.4k ≤12 cr.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879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5.16%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This work — NAS knee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J₃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1.4k ≤12 cr.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1,095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</a:rPr>
                        <a:t>2.33%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55E00"/>
                          </a:solidFill>
                        </a:rPr>
                        <a:t>This work — NAS knee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55E00"/>
                          </a:solidFill>
                        </a:rPr>
                        <a:t>J₂+J₃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55E00"/>
                          </a:solidFill>
                        </a:rPr>
                        <a:t>1.4k ≤12 cr.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55E00"/>
                          </a:solidFill>
                        </a:rPr>
                        <a:t>2,647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55E00"/>
                          </a:solidFill>
                        </a:rPr>
                        <a:t>2.08%</a:t>
                      </a:r>
                    </a:p>
                  </a:txBody>
                  <a:tcPr>
                    <a:solidFill>
                      <a:srgbClr val="FBE7D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663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D55E00"/>
                </a:solidFill>
                <a:latin typeface="Calibri"/>
              </a:rPr>
              <a:t>Same trend, 70× fewer parameters.  </a:t>
            </a:r>
            <a:r>
              <a:rPr sz="1500">
                <a:solidFill>
                  <a:srgbClr val="1A1A1A"/>
                </a:solidFill>
                <a:latin typeface="Calibri"/>
              </a:rPr>
              <a:t>The J₂ → J₃ → J₂+J₃ error ordering of Hughes et al. reproduces exactly, with ~70–200× smaller models found by the NAS.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A1A1A"/>
                </a:solidFill>
                <a:latin typeface="Calibri"/>
              </a:rPr>
              <a:t>Why absolute errors differ.  </a:t>
            </a:r>
            <a:r>
              <a:rPr sz="1500">
                <a:solidFill>
                  <a:srgbClr val="1A1A1A"/>
                </a:solidFill>
                <a:latin typeface="Calibri"/>
              </a:rPr>
              <a:t>They train on ~125× more knots at higher crossing number — with J₂, accuracy is set by data volume, not architecture. Numbers across datasets are not directly comparable.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Conclusions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2000">
                <a:solidFill>
                  <a:srgbClr val="D55E00"/>
                </a:solidFill>
                <a:latin typeface="Calibri"/>
              </a:rPr>
              <a:t>Theory picks features.  </a:t>
            </a:r>
            <a:r>
              <a:rPr sz="2000">
                <a:solidFill>
                  <a:srgbClr val="1A1A1A"/>
                </a:solidFill>
                <a:latin typeface="Calibri"/>
              </a:rPr>
              <a:t>The volume-conjecture phase evaluation is a near-free accuracy gain at every model size, on both datasets — and ablations confirm it is the signal, not the extra dimensions.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1A1A1A"/>
                </a:solidFill>
                <a:latin typeface="Calibri"/>
              </a:rPr>
              <a:t>Information beats capacity.  </a:t>
            </a:r>
            <a:r>
              <a:rPr sz="2000">
                <a:solidFill>
                  <a:srgbClr val="1A1A1A"/>
                </a:solidFill>
                <a:latin typeface="Calibri"/>
              </a:rPr>
              <a:t>Flat Pareto fronts and tiny (&lt;3k-param) knees throughout: what limits accuracy is the invariant you feed in, not the network. J₂ → J₃ moves accuracy far more than any architecture change.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0072B2"/>
                </a:solidFill>
                <a:latin typeface="Calibri"/>
              </a:rPr>
              <a:t>Measured J₃ gain.  </a:t>
            </a:r>
            <a:r>
              <a:rPr sz="2000">
                <a:solidFill>
                  <a:srgbClr val="1A1A1A"/>
                </a:solidFill>
                <a:latin typeface="Calibri"/>
              </a:rPr>
              <a:t>On a matched 1,419-knot set: J₂ 94.8% → J₃ 97.7% → J₂+J₃ 97.9%, reproducing the literature ordering with ~70× fewer parameters.</a:t>
            </a:r>
          </a:p>
          <a:p>
            <a:pPr>
              <a:spcAft>
                <a:spcPts val="1600"/>
              </a:spcAft>
            </a:pPr>
            <a:r>
              <a:rPr b="1" sz="2000">
                <a:solidFill>
                  <a:srgbClr val="1A1A1A"/>
                </a:solidFill>
                <a:latin typeface="Calibri"/>
              </a:rPr>
              <a:t>Future work.  </a:t>
            </a:r>
            <a:r>
              <a:rPr sz="2000">
                <a:solidFill>
                  <a:srgbClr val="1A1A1A"/>
                </a:solidFill>
                <a:latin typeface="Calibri"/>
              </a:rPr>
              <a:t>Scale J₃ to the ≤13-crossing census (12,955 knots) to close the data gap toward the published 99.3%; push the substitution one level higher — predict the volume-correlated behavior of J₄, J₅, … directly from cheap low-color data, avoiding their computation entirely; interpret the knee networks symbolically.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